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5219" autoAdjust="0"/>
  </p:normalViewPr>
  <p:slideViewPr>
    <p:cSldViewPr snapToGrid="0">
      <p:cViewPr varScale="1">
        <p:scale>
          <a:sx n="62" d="100"/>
          <a:sy n="62" d="100"/>
        </p:scale>
        <p:origin x="10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574033-DFE4-419B-87E3-AE58B53FDBC6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20339E-075E-4C01-9D82-AF4F2C5B6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2658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It reads an EPUB with </a:t>
            </a:r>
            <a:r>
              <a:rPr lang="en-US" dirty="0" err="1" smtClean="0"/>
              <a:t>ebooklib</a:t>
            </a:r>
            <a:r>
              <a:rPr lang="en-US" dirty="0" smtClean="0"/>
              <a:t>, parses XHTML with </a:t>
            </a:r>
            <a:r>
              <a:rPr lang="en-US" dirty="0" err="1" smtClean="0"/>
              <a:t>BeautifulSoup</a:t>
            </a:r>
            <a:r>
              <a:rPr lang="en-US" dirty="0" smtClean="0"/>
              <a:t>, </a:t>
            </a:r>
            <a:r>
              <a:rPr lang="en-US" dirty="0" err="1" smtClean="0"/>
              <a:t>inlines</a:t>
            </a:r>
            <a:r>
              <a:rPr lang="en-US" dirty="0" smtClean="0"/>
              <a:t> CSS and resources as data: URIs, applies a final cascade of CSS (including page size and margins), and renders the result to PDF using </a:t>
            </a:r>
            <a:r>
              <a:rPr lang="en-US" dirty="0" err="1" smtClean="0"/>
              <a:t>WeasyPrint</a:t>
            </a:r>
            <a:r>
              <a:rPr lang="en-US" dirty="0" smtClean="0"/>
              <a:t>. The script also includes a bulk-conversion helper that converts every .</a:t>
            </a:r>
            <a:r>
              <a:rPr lang="en-US" dirty="0" err="1" smtClean="0"/>
              <a:t>epub</a:t>
            </a:r>
            <a:r>
              <a:rPr lang="en-US" dirty="0" smtClean="0"/>
              <a:t> file in a directory.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20339E-075E-4C01-9D82-AF4F2C5B63F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8134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>
                <a:effectLst/>
              </a:rPr>
              <a:t>Recompress embedded images</a:t>
            </a:r>
            <a:r>
              <a:rPr lang="en-US" dirty="0" smtClean="0">
                <a:effectLst/>
              </a:rPr>
              <a:t> using Pillow</a:t>
            </a:r>
          </a:p>
          <a:p>
            <a:r>
              <a:rPr lang="en-US" b="1" dirty="0" smtClean="0">
                <a:effectLst/>
              </a:rPr>
              <a:t>Optimize PDF structure</a:t>
            </a:r>
            <a:r>
              <a:rPr lang="en-US" dirty="0" smtClean="0">
                <a:effectLst/>
              </a:rPr>
              <a:t> using </a:t>
            </a:r>
            <a:r>
              <a:rPr lang="en-US" dirty="0" err="1" smtClean="0">
                <a:effectLst/>
              </a:rPr>
              <a:t>PikePDF</a:t>
            </a:r>
            <a:endParaRPr lang="en-US" dirty="0" smtClean="0">
              <a:effectLst/>
            </a:endParaRPr>
          </a:p>
          <a:p>
            <a:r>
              <a:rPr lang="en-US" b="1" dirty="0" smtClean="0">
                <a:effectLst/>
              </a:rPr>
              <a:t>Optionally run </a:t>
            </a:r>
            <a:r>
              <a:rPr lang="en-US" b="1" dirty="0" err="1" smtClean="0">
                <a:effectLst/>
              </a:rPr>
              <a:t>Ghostscript</a:t>
            </a:r>
            <a:r>
              <a:rPr lang="en-US" dirty="0" smtClean="0">
                <a:effectLst/>
              </a:rPr>
              <a:t> for aggressive compression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20339E-075E-4C01-9D82-AF4F2C5B63F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3448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Predefined themes:</a:t>
            </a:r>
          </a:p>
          <a:p>
            <a:r>
              <a:rPr lang="en-US" b="1" dirty="0" smtClean="0"/>
              <a:t>AMOLED</a:t>
            </a:r>
            <a:r>
              <a:rPr lang="en-US" dirty="0" smtClean="0"/>
              <a:t>: pure black background, near-white text</a:t>
            </a:r>
          </a:p>
          <a:p>
            <a:r>
              <a:rPr lang="en-US" b="1" dirty="0" smtClean="0"/>
              <a:t>Sepia</a:t>
            </a:r>
            <a:r>
              <a:rPr lang="en-US" dirty="0" smtClean="0"/>
              <a:t>: warm, paper-like dark mode</a:t>
            </a:r>
          </a:p>
          <a:p>
            <a:r>
              <a:rPr lang="en-US" b="1" dirty="0" smtClean="0"/>
              <a:t>Navy</a:t>
            </a:r>
            <a:r>
              <a:rPr lang="en-US" dirty="0" smtClean="0"/>
              <a:t>: blue-tinted dark mode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20339E-075E-4C01-9D82-AF4F2C5B63F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8935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AD7E19B1-FDD1-4C0B-8B96-D9A2D3466228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765CA0BA-841A-4B34-B0A0-28CA390ED2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9590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E19B1-FDD1-4C0B-8B96-D9A2D3466228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CA0BA-841A-4B34-B0A0-28CA390ED2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7688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E19B1-FDD1-4C0B-8B96-D9A2D3466228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CA0BA-841A-4B34-B0A0-28CA390ED2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961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E19B1-FDD1-4C0B-8B96-D9A2D3466228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CA0BA-841A-4B34-B0A0-28CA390ED2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421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E19B1-FDD1-4C0B-8B96-D9A2D3466228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CA0BA-841A-4B34-B0A0-28CA390ED2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3265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E19B1-FDD1-4C0B-8B96-D9A2D3466228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CA0BA-841A-4B34-B0A0-28CA390ED2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4630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E19B1-FDD1-4C0B-8B96-D9A2D3466228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CA0BA-841A-4B34-B0A0-28CA390ED2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539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E19B1-FDD1-4C0B-8B96-D9A2D3466228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CA0BA-841A-4B34-B0A0-28CA390ED2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330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E19B1-FDD1-4C0B-8B96-D9A2D3466228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CA0BA-841A-4B34-B0A0-28CA390ED2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9610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E19B1-FDD1-4C0B-8B96-D9A2D3466228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CA0BA-841A-4B34-B0A0-28CA390ED2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350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E19B1-FDD1-4C0B-8B96-D9A2D3466228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CA0BA-841A-4B34-B0A0-28CA390ED2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7253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E19B1-FDD1-4C0B-8B96-D9A2D3466228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CA0BA-841A-4B34-B0A0-28CA390ED2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7672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E19B1-FDD1-4C0B-8B96-D9A2D3466228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CA0BA-841A-4B34-B0A0-28CA390ED2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9818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E19B1-FDD1-4C0B-8B96-D9A2D3466228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CA0BA-841A-4B34-B0A0-28CA390ED2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0134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E19B1-FDD1-4C0B-8B96-D9A2D3466228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CA0BA-841A-4B34-B0A0-28CA390ED2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315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AD7E19B1-FDD1-4C0B-8B96-D9A2D3466228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CA0BA-841A-4B34-B0A0-28CA390ED2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8019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AD7E19B1-FDD1-4C0B-8B96-D9A2D3466228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CA0BA-841A-4B34-B0A0-28CA390ED2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1416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AD7E19B1-FDD1-4C0B-8B96-D9A2D3466228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765CA0BA-841A-4B34-B0A0-28CA390ED2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212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PDF </a:t>
            </a:r>
            <a:r>
              <a:rPr lang="en-US" dirty="0" err="1" smtClean="0"/>
              <a:t>Utils</a:t>
            </a:r>
            <a:r>
              <a:rPr lang="en-US" dirty="0" smtClean="0"/>
              <a:t>	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Hirbod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6763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Purpose of the tools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Utility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Enhancing user experience compared to online tools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 err="1" smtClean="0"/>
              <a:t>Availibilty</a:t>
            </a:r>
            <a:r>
              <a:rPr lang="en-US" dirty="0" smtClean="0"/>
              <a:t> </a:t>
            </a:r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6876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EpUb</a:t>
            </a:r>
            <a:r>
              <a:rPr lang="en-US" dirty="0" smtClean="0"/>
              <a:t> to PDF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script converts EPUB files to PDF while trying to preserve the original EPUB styling and embed all referenced resources (images, fonts, CSS</a:t>
            </a:r>
            <a:r>
              <a:rPr lang="en-US" dirty="0" smtClean="0"/>
              <a:t>).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012" y="3315565"/>
            <a:ext cx="7832189" cy="2744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519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EpUb</a:t>
            </a:r>
            <a:r>
              <a:rPr lang="en-US" dirty="0"/>
              <a:t> to </a:t>
            </a:r>
            <a:r>
              <a:rPr lang="en-US" dirty="0" smtClean="0"/>
              <a:t>PDF helper functions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7860" y="2359283"/>
            <a:ext cx="10515600" cy="4351338"/>
          </a:xfrm>
        </p:spPr>
        <p:txBody>
          <a:bodyPr>
            <a:normAutofit/>
          </a:bodyPr>
          <a:lstStyle/>
          <a:p>
            <a:r>
              <a:rPr lang="en-US" b="1" dirty="0"/>
              <a:t>_</a:t>
            </a:r>
            <a:r>
              <a:rPr lang="en-US" b="1" dirty="0" err="1"/>
              <a:t>resolve_href</a:t>
            </a:r>
            <a:r>
              <a:rPr lang="en-US" b="1" dirty="0"/>
              <a:t>(</a:t>
            </a:r>
            <a:r>
              <a:rPr lang="en-US" b="1" dirty="0" err="1"/>
              <a:t>base_path</a:t>
            </a:r>
            <a:r>
              <a:rPr lang="en-US" b="1" dirty="0"/>
              <a:t>, </a:t>
            </a:r>
            <a:r>
              <a:rPr lang="en-US" b="1" dirty="0" err="1"/>
              <a:t>href</a:t>
            </a:r>
            <a:r>
              <a:rPr lang="en-US" b="1" dirty="0" smtClean="0"/>
              <a:t>)</a:t>
            </a:r>
          </a:p>
          <a:p>
            <a:r>
              <a:rPr lang="en-US" dirty="0" smtClean="0"/>
              <a:t>Purpose</a:t>
            </a:r>
            <a:r>
              <a:rPr lang="en-US" dirty="0"/>
              <a:t>: Normalize and resolve a relative </a:t>
            </a:r>
            <a:r>
              <a:rPr lang="en-US" dirty="0" err="1"/>
              <a:t>href</a:t>
            </a:r>
            <a:r>
              <a:rPr lang="en-US" dirty="0"/>
              <a:t> found in an EPUB document </a:t>
            </a:r>
            <a:r>
              <a:rPr lang="en-US" dirty="0" smtClean="0"/>
              <a:t>relative </a:t>
            </a:r>
            <a:r>
              <a:rPr lang="en-US" dirty="0"/>
              <a:t>to the document that references it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b="1" dirty="0"/>
              <a:t>_</a:t>
            </a:r>
            <a:r>
              <a:rPr lang="en-US" b="1" dirty="0" err="1"/>
              <a:t>embed_resources_in_css</a:t>
            </a:r>
            <a:r>
              <a:rPr lang="en-US" b="1" dirty="0"/>
              <a:t>(</a:t>
            </a:r>
            <a:r>
              <a:rPr lang="en-US" b="1" dirty="0" err="1"/>
              <a:t>css_text</a:t>
            </a:r>
            <a:r>
              <a:rPr lang="en-US" b="1" dirty="0"/>
              <a:t>, </a:t>
            </a:r>
            <a:r>
              <a:rPr lang="en-US" b="1" dirty="0" err="1" smtClean="0"/>
              <a:t>css_item_path</a:t>
            </a:r>
            <a:r>
              <a:rPr lang="en-US" b="1" dirty="0"/>
              <a:t>, </a:t>
            </a:r>
            <a:r>
              <a:rPr lang="en-US" b="1" dirty="0" err="1"/>
              <a:t>items_by_path</a:t>
            </a:r>
            <a:r>
              <a:rPr lang="en-US" b="1" dirty="0" smtClean="0"/>
              <a:t>)</a:t>
            </a:r>
          </a:p>
          <a:p>
            <a:r>
              <a:rPr lang="en-US" dirty="0"/>
              <a:t>Purpose: Find </a:t>
            </a:r>
            <a:r>
              <a:rPr lang="en-US" dirty="0" err="1"/>
              <a:t>url</a:t>
            </a:r>
            <a:r>
              <a:rPr lang="en-US" dirty="0"/>
              <a:t>(...) and @import references inside CSS and inline referenced resources (images, fonts, other CSS) as data: URIs when the resource exists inside the EPUB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b="1" dirty="0"/>
              <a:t>_</a:t>
            </a:r>
            <a:r>
              <a:rPr lang="en-US" b="1" dirty="0" err="1"/>
              <a:t>get_image_dimensions</a:t>
            </a:r>
            <a:r>
              <a:rPr lang="en-US" b="1" dirty="0"/>
              <a:t>(resource</a:t>
            </a:r>
            <a:r>
              <a:rPr lang="en-US" b="1" dirty="0" smtClean="0"/>
              <a:t>)</a:t>
            </a:r>
          </a:p>
          <a:p>
            <a:r>
              <a:rPr lang="en-US" dirty="0" smtClean="0"/>
              <a:t>Purpose</a:t>
            </a:r>
            <a:r>
              <a:rPr lang="en-US" dirty="0"/>
              <a:t>: Try to determine pixel width and height of an image resource using Pillow.</a:t>
            </a:r>
          </a:p>
        </p:txBody>
      </p:sp>
    </p:spTree>
    <p:extLst>
      <p:ext uri="{BB962C8B-B14F-4D97-AF65-F5344CB8AC3E}">
        <p14:creationId xmlns:p14="http://schemas.microsoft.com/office/powerpoint/2010/main" val="433193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EpUb</a:t>
            </a:r>
            <a:r>
              <a:rPr lang="en-US" dirty="0"/>
              <a:t> to PDF helper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_</a:t>
            </a:r>
            <a:r>
              <a:rPr lang="en-US" b="1" dirty="0" err="1"/>
              <a:t>process_and_embed_resources_in_soup</a:t>
            </a:r>
            <a:r>
              <a:rPr lang="en-US" b="1" dirty="0"/>
              <a:t>(soup, </a:t>
            </a:r>
            <a:r>
              <a:rPr lang="en-US" b="1" dirty="0" err="1"/>
              <a:t>base_path</a:t>
            </a:r>
            <a:r>
              <a:rPr lang="en-US" b="1" dirty="0"/>
              <a:t>, </a:t>
            </a:r>
            <a:r>
              <a:rPr lang="en-US" b="1" dirty="0" err="1"/>
              <a:t>items_by_path</a:t>
            </a:r>
            <a:r>
              <a:rPr lang="en-US" b="1" dirty="0"/>
              <a:t>, </a:t>
            </a:r>
            <a:r>
              <a:rPr lang="en-US" b="1" dirty="0" err="1"/>
              <a:t>debug_log</a:t>
            </a:r>
            <a:r>
              <a:rPr lang="en-US" b="1" dirty="0"/>
              <a:t>=None</a:t>
            </a:r>
            <a:r>
              <a:rPr lang="en-US" b="1" dirty="0" smtClean="0"/>
              <a:t>)</a:t>
            </a:r>
          </a:p>
          <a:p>
            <a:r>
              <a:rPr lang="en-US" dirty="0" smtClean="0"/>
              <a:t>Purpose</a:t>
            </a:r>
            <a:r>
              <a:rPr lang="en-US" dirty="0"/>
              <a:t>: Walk the parsed XHTML soup and inline or fix resources and links so the final HTML is self-contained and linkable inside the single output HTML used for PDF rendering.</a:t>
            </a:r>
          </a:p>
        </p:txBody>
      </p:sp>
    </p:spTree>
    <p:extLst>
      <p:ext uri="{BB962C8B-B14F-4D97-AF65-F5344CB8AC3E}">
        <p14:creationId xmlns:p14="http://schemas.microsoft.com/office/powerpoint/2010/main" val="1554631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EpUb to PDF main function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mtClean="0"/>
              <a:t>Read EPUB</a:t>
            </a:r>
          </a:p>
          <a:p>
            <a:r>
              <a:rPr lang="en-US" smtClean="0"/>
              <a:t>Build items_by_path</a:t>
            </a:r>
          </a:p>
          <a:p>
            <a:r>
              <a:rPr lang="en-US" smtClean="0"/>
              <a:t>Collect global CSS:</a:t>
            </a:r>
          </a:p>
          <a:p>
            <a:r>
              <a:rPr lang="en-US" smtClean="0"/>
              <a:t>Determine reading order (spin e): Build spine_items as the list of XHTML items in reading order.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mtClean="0"/>
              <a:t>Process each spine document:</a:t>
            </a:r>
          </a:p>
          <a:p>
            <a:r>
              <a:rPr lang="en-US" smtClean="0"/>
              <a:t>Compose final HTML:</a:t>
            </a:r>
          </a:p>
          <a:p>
            <a:r>
              <a:rPr lang="en-US" smtClean="0"/>
              <a:t>Render to PDF: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3037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PDF‑compression utility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58181"/>
            <a:ext cx="8849280" cy="2491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423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Dependencies and parameters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93821" y="1690688"/>
            <a:ext cx="7715574" cy="58477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Pillow (PIL)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image processing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pikepdf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PDF editing, stream replacement, object compression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PyPDF2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text extraction for scanned detection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Ghostscript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(optional) → heavy compression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tempfile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shutil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subprocess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temporary files and external commands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b="1" dirty="0">
                <a:latin typeface="Arial" panose="020B0604020202020204" pitchFamily="34" charset="0"/>
              </a:rPr>
              <a:t>Image compression presets (</a:t>
            </a:r>
            <a:r>
              <a:rPr lang="en-US" altLang="en-US" sz="1400" b="1" dirty="0">
                <a:latin typeface="Arial Unicode MS" panose="020B0604020202020204" pitchFamily="34" charset="-128"/>
              </a:rPr>
              <a:t>IMAGE_SETTINGS</a:t>
            </a:r>
            <a:r>
              <a:rPr lang="en-US" altLang="en-US" sz="2400" b="1" dirty="0"/>
              <a:t>)</a:t>
            </a:r>
            <a:endParaRPr lang="en-US" altLang="en-US" sz="2400" b="1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dirty="0">
                <a:latin typeface="Arial" panose="020B0604020202020204" pitchFamily="34" charset="0"/>
              </a:rPr>
              <a:t>Each level defines:</a:t>
            </a:r>
            <a:endParaRPr lang="en-US" altLang="en-US" sz="40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 err="1">
                <a:latin typeface="Arial Unicode MS" panose="020B0604020202020204" pitchFamily="34" charset="-128"/>
              </a:rPr>
              <a:t>max_size</a:t>
            </a:r>
            <a:r>
              <a:rPr lang="en-US" altLang="en-US" sz="2400" dirty="0"/>
              <a:t>: maximum width/height after </a:t>
            </a:r>
            <a:r>
              <a:rPr lang="en-US" altLang="en-US" sz="2400" dirty="0" err="1"/>
              <a:t>downsampling</a:t>
            </a:r>
            <a:endParaRPr lang="en-US" altLang="en-US" sz="40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Arial Unicode MS" panose="020B0604020202020204" pitchFamily="34" charset="-128"/>
              </a:rPr>
              <a:t>quality</a:t>
            </a:r>
            <a:r>
              <a:rPr lang="en-US" altLang="en-US" sz="2400" dirty="0"/>
              <a:t>: JPEG quality</a:t>
            </a:r>
            <a:endParaRPr lang="en-US" altLang="en-US" sz="40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Arial Unicode MS" panose="020B0604020202020204" pitchFamily="34" charset="-128"/>
              </a:rPr>
              <a:t>progressive</a:t>
            </a:r>
            <a:r>
              <a:rPr lang="en-US" altLang="en-US" sz="2400" dirty="0"/>
              <a:t>: progressive JPEG</a:t>
            </a:r>
            <a:endParaRPr lang="en-US" altLang="en-US" sz="40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Arial Unicode MS" panose="020B0604020202020204" pitchFamily="34" charset="-128"/>
              </a:rPr>
              <a:t>grayscale</a:t>
            </a:r>
            <a:r>
              <a:rPr lang="en-US" altLang="en-US" sz="2400" dirty="0"/>
              <a:t>: convert to grayscale</a:t>
            </a:r>
            <a:endParaRPr lang="en-US" altLang="en-US" sz="40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latin typeface="Arial" panose="020B0604020202020204" pitchFamily="34" charset="0"/>
              </a:rPr>
              <a:t>Level 4 is the most aggressive.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3112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PDF </a:t>
            </a:r>
            <a:r>
              <a:rPr lang="en-US" dirty="0" err="1" smtClean="0"/>
              <a:t>darkmode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This script is a </a:t>
            </a:r>
            <a:r>
              <a:rPr lang="en-US" b="1" dirty="0"/>
              <a:t>PDF “dark mode” converter</a:t>
            </a:r>
            <a:r>
              <a:rPr lang="en-US" dirty="0"/>
              <a:t>. Its goal is to transform light-background PDFs into dark-themed versions </a:t>
            </a:r>
            <a:r>
              <a:rPr lang="en-US" b="1" dirty="0"/>
              <a:t>without breaking fonts, </a:t>
            </a:r>
            <a:r>
              <a:rPr lang="en-US" b="1" dirty="0" smtClean="0"/>
              <a:t>text </a:t>
            </a:r>
            <a:r>
              <a:rPr lang="en-US" b="1" dirty="0"/>
              <a:t>layout, or vector graphics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sz="2400" dirty="0"/>
              <a:t>Adds a dark background to each page</a:t>
            </a:r>
          </a:p>
          <a:p>
            <a:r>
              <a:rPr lang="en-US" sz="2400" dirty="0"/>
              <a:t>Recolors dark text to light text</a:t>
            </a:r>
          </a:p>
          <a:p>
            <a:r>
              <a:rPr lang="en-US" sz="2400" dirty="0"/>
              <a:t>Preserves fonts, bold/italic styles, symbols, and vector precision</a:t>
            </a:r>
          </a:p>
          <a:p>
            <a:r>
              <a:rPr lang="en-US" sz="2400" dirty="0"/>
              <a:t>Provides multiple visual themes</a:t>
            </a:r>
          </a:p>
          <a:p>
            <a:r>
              <a:rPr lang="en-US" sz="2400" dirty="0"/>
              <a:t>Supports both vector PDFs and scanned/image-heavy PDFs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8687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Architectural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b="1" dirty="0"/>
              <a:t>Vector mode (default, preferred)</a:t>
            </a:r>
          </a:p>
          <a:p>
            <a:r>
              <a:rPr lang="en-US" dirty="0"/>
              <a:t>Uses </a:t>
            </a:r>
            <a:r>
              <a:rPr lang="en-US" b="1" dirty="0" err="1"/>
              <a:t>PikePDF</a:t>
            </a:r>
            <a:endParaRPr lang="en-US" dirty="0"/>
          </a:p>
          <a:p>
            <a:r>
              <a:rPr lang="en-US" dirty="0"/>
              <a:t>Directly edits PDF content streams</a:t>
            </a:r>
          </a:p>
          <a:p>
            <a:r>
              <a:rPr lang="en-US" dirty="0"/>
              <a:t>Keeps everything vector-based</a:t>
            </a:r>
          </a:p>
          <a:p>
            <a:r>
              <a:rPr lang="en-US" dirty="0"/>
              <a:t>Ideal for digitally generated PDFs (books, papers, slides)</a:t>
            </a:r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b="1" dirty="0"/>
              <a:t>Image mode (fallback)</a:t>
            </a:r>
          </a:p>
          <a:p>
            <a:r>
              <a:rPr lang="en-US" dirty="0"/>
              <a:t>Uses </a:t>
            </a:r>
            <a:r>
              <a:rPr lang="en-US" b="1" dirty="0" err="1"/>
              <a:t>PyMuPDF</a:t>
            </a:r>
            <a:r>
              <a:rPr lang="en-US" b="1" dirty="0"/>
              <a:t> + Pillow</a:t>
            </a:r>
            <a:endParaRPr lang="en-US" dirty="0"/>
          </a:p>
          <a:p>
            <a:r>
              <a:rPr lang="en-US" dirty="0"/>
              <a:t>Rasterizes each page</a:t>
            </a:r>
          </a:p>
          <a:p>
            <a:r>
              <a:rPr lang="en-US" dirty="0"/>
              <a:t>Applies image-based dark mode conversion</a:t>
            </a:r>
          </a:p>
          <a:p>
            <a:r>
              <a:rPr lang="en-US" dirty="0"/>
              <a:t>Suitable for scanned documents or very complex layouts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9351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PDF </a:t>
            </a:r>
            <a:r>
              <a:rPr lang="en-US" dirty="0" err="1" smtClean="0"/>
              <a:t>lightmode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1924" y="1813302"/>
            <a:ext cx="8921287" cy="2285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383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100</TotalTime>
  <Words>542</Words>
  <Application>Microsoft Office PowerPoint</Application>
  <PresentationFormat>Widescreen</PresentationFormat>
  <Paragraphs>81</Paragraphs>
  <Slides>11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 Unicode MS</vt:lpstr>
      <vt:lpstr>Arial</vt:lpstr>
      <vt:lpstr>Calibri</vt:lpstr>
      <vt:lpstr>Century Gothic</vt:lpstr>
      <vt:lpstr>Wingdings 3</vt:lpstr>
      <vt:lpstr>Ion Boardroom</vt:lpstr>
      <vt:lpstr>PDF Utils </vt:lpstr>
      <vt:lpstr>Purpose of the tools</vt:lpstr>
      <vt:lpstr>EpUb to PDF</vt:lpstr>
      <vt:lpstr>EpUb to PDF helper functions</vt:lpstr>
      <vt:lpstr>EpUb to PDF helper functions</vt:lpstr>
      <vt:lpstr>EpUb to PDF main function</vt:lpstr>
      <vt:lpstr>PDF‑compression utility</vt:lpstr>
      <vt:lpstr>Dependencies and parameters</vt:lpstr>
      <vt:lpstr>PDF darkmode</vt:lpstr>
      <vt:lpstr>Architectural overview</vt:lpstr>
      <vt:lpstr>PDF lightmode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PDF Utils </dc:title>
  <dc:creator>Hirbod</dc:creator>
  <cp:lastModifiedBy>Hirbod</cp:lastModifiedBy>
  <cp:revision>9</cp:revision>
  <dcterms:created xsi:type="dcterms:W3CDTF">2025-12-18T19:32:20Z</dcterms:created>
  <dcterms:modified xsi:type="dcterms:W3CDTF">2025-12-19T17:22:49Z</dcterms:modified>
</cp:coreProperties>
</file>